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混合还原：章节编号、主标题、英文副标题、五组模块标题和正文为原生文本。背景、建筑、道路、复杂3D插画、产品UI与Logo取自原始图。产品UI内部小字及AI插画字样保留为图片。局部文字底纹通过图像修复近似；不含可反推数据的数值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原图视觉背景（主要文字已移除）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effectLst/>
        </p:spPr>
      </p:pic>
      <p:pic>
        <p:nvPicPr>
          <p:cNvPr id="3" name="原图裁切：douyin_phone" descr="douyin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210" y="714223"/>
            <a:ext cx="1699004" cy="991166"/>
          </a:xfrm>
          <a:prstGeom prst="rect">
            <a:avLst/>
          </a:prstGeom>
          <a:effectLst/>
        </p:spPr>
      </p:pic>
      <p:pic>
        <p:nvPicPr>
          <p:cNvPr id="4" name="原图裁切：route_visual" descr="route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152" y="1756405"/>
            <a:ext cx="1946928" cy="1115062"/>
          </a:xfrm>
          <a:prstGeom prst="rect">
            <a:avLst/>
          </a:prstGeom>
          <a:effectLst/>
        </p:spPr>
      </p:pic>
      <p:pic>
        <p:nvPicPr>
          <p:cNvPr id="5" name="原图裁切：amap" descr="a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712" y="2856892"/>
            <a:ext cx="1976095" cy="1173366"/>
          </a:xfrm>
          <a:prstGeom prst="rect">
            <a:avLst/>
          </a:prstGeom>
          <a:effectLst/>
        </p:spPr>
      </p:pic>
      <p:pic>
        <p:nvPicPr>
          <p:cNvPr id="6" name="原图裁切：ai" descr="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334" y="3716875"/>
            <a:ext cx="2296937" cy="1289974"/>
          </a:xfrm>
          <a:prstGeom prst="rect">
            <a:avLst/>
          </a:prstGeom>
          <a:effectLst/>
        </p:spPr>
      </p:pic>
      <p:pic>
        <p:nvPicPr>
          <p:cNvPr id="7" name="原图裁切：architecture" descr="architec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306" y="5057866"/>
            <a:ext cx="2508401" cy="1384718"/>
          </a:xfrm>
          <a:prstGeom prst="rect">
            <a:avLst/>
          </a:prstGeom>
          <a:effectLst/>
        </p:spPr>
      </p:pic>
      <p:sp>
        <p:nvSpPr>
          <p:cNvPr id="8" name="章节编号（可编辑）"/>
          <p:cNvSpPr txBox="1"/>
          <p:nvPr/>
        </p:nvSpPr>
        <p:spPr>
          <a:xfrm>
            <a:off x="313550" y="-21863"/>
            <a:ext cx="721894" cy="6632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63" b="1">
                <a:latin typeface="Liberation Sans"/>
                <a:ea typeface="Liberation Sans"/>
                <a:gradFill>
                  <a:gsLst>
                    <a:gs pos="0">
                      <a:srgbClr val="83CDFF"/>
                    </a:gs>
                    <a:gs pos="42000">
                      <a:srgbClr val="258FEA"/>
                    </a:gs>
                    <a:gs pos="100000">
                      <a:srgbClr val="0054B9"/>
                    </a:gs>
                  </a:gsLst>
                  <a:lin ang="5400000" scaled="0"/>
                </a:gradFill>
              </a:rPr>
              <a:t>05</a:t>
            </a:r>
          </a:p>
        </p:txBody>
      </p:sp>
      <p:sp>
        <p:nvSpPr>
          <p:cNvPr id="9" name="主标题（可编辑）"/>
          <p:cNvSpPr txBox="1"/>
          <p:nvPr/>
        </p:nvSpPr>
        <p:spPr>
          <a:xfrm>
            <a:off x="1152114" y="58303"/>
            <a:ext cx="3645932" cy="4591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83" b="1">
                <a:solidFill>
                  <a:srgbClr val="0058B7"/>
                </a:solidFill>
                <a:latin typeface="Noto Sans CJK SC"/>
                <a:ea typeface="Noto Sans CJK SC"/>
              </a:rPr>
              <a:t>现阶段主要成果</a:t>
            </a:r>
          </a:p>
        </p:txBody>
      </p:sp>
      <p:sp>
        <p:nvSpPr>
          <p:cNvPr id="10" name="英文副标题（可编辑）"/>
          <p:cNvSpPr txBox="1"/>
          <p:nvPr/>
        </p:nvSpPr>
        <p:spPr>
          <a:xfrm>
            <a:off x="1159406" y="415415"/>
            <a:ext cx="2843827" cy="2332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9" b="0">
                <a:solidFill>
                  <a:srgbClr val="879ABD"/>
                </a:solidFill>
                <a:latin typeface="Liberation Sans"/>
                <a:ea typeface="Liberation Sans"/>
              </a:rPr>
              <a:t>KEY ACHIEVEMENTS</a:t>
            </a:r>
          </a:p>
        </p:txBody>
      </p:sp>
      <p:sp>
        <p:nvSpPr>
          <p:cNvPr id="11" name="标签轮廓（可编辑）：抖音攻略模块"/>
          <p:cNvSpPr/>
          <p:nvPr/>
        </p:nvSpPr>
        <p:spPr>
          <a:xfrm>
            <a:off x="3565299" y="743274"/>
            <a:ext cx="2303956" cy="342489"/>
          </a:xfrm>
          <a:custGeom>
            <a:avLst/>
            <a:gdLst/>
            <a:ahLst/>
            <a:cxnLst/>
            <a:rect l="l" t="t" r="r" b="b"/>
            <a:pathLst>
              <a:path w="316" h="47">
                <a:moveTo>
                  <a:pt x="17" y="0"/>
                </a:moveTo>
                <a:lnTo>
                  <a:pt x="17" y="0"/>
                </a:lnTo>
                <a:lnTo>
                  <a:pt x="299" y="0"/>
                </a:lnTo>
                <a:lnTo>
                  <a:pt x="316" y="24"/>
                </a:lnTo>
                <a:lnTo>
                  <a:pt x="299" y="47"/>
                </a:lnTo>
                <a:lnTo>
                  <a:pt x="17" y="47"/>
                </a:lnTo>
                <a:lnTo>
                  <a:pt x="0" y="24"/>
                </a:lnTo>
                <a:lnTo>
                  <a:pt x="17" y="0"/>
                </a:lnTo>
                <a:close/>
              </a:path>
            </a:pathLst>
          </a:custGeom>
          <a:noFill/>
          <a:ln w="8255">
            <a:solidFill>
              <a:srgbClr val="3A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抖音攻略模块（标题，可编辑）"/>
          <p:cNvSpPr txBox="1"/>
          <p:nvPr/>
        </p:nvSpPr>
        <p:spPr>
          <a:xfrm>
            <a:off x="3565722" y="801679"/>
            <a:ext cx="2304229" cy="3425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2" b="1">
                <a:solidFill>
                  <a:srgbClr val="0059C4"/>
                </a:solidFill>
                <a:latin typeface="Noto Sans CJK SC"/>
                <a:ea typeface="Noto Sans CJK SC"/>
              </a:rPr>
              <a:t>抖音攻略模块</a:t>
            </a:r>
          </a:p>
        </p:txBody>
      </p:sp>
      <p:sp>
        <p:nvSpPr>
          <p:cNvPr id="13" name="抖音攻略模块（正文，可编辑）"/>
          <p:cNvSpPr txBox="1"/>
          <p:nvPr/>
        </p:nvSpPr>
        <p:spPr>
          <a:xfrm>
            <a:off x="3565722" y="1173366"/>
            <a:ext cx="2391731" cy="6923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集成抖音攻略模块，获取旅行目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的地的图文/视频攻略，丰富规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划内容，并提供优雅的降级方案。</a:t>
            </a:r>
          </a:p>
        </p:txBody>
      </p:sp>
      <p:sp>
        <p:nvSpPr>
          <p:cNvPr id="14" name="标签轮廓（可编辑）：路线优化与可视化渲染"/>
          <p:cNvSpPr/>
          <p:nvPr/>
        </p:nvSpPr>
        <p:spPr>
          <a:xfrm>
            <a:off x="8173211" y="1996638"/>
            <a:ext cx="2391448" cy="327915"/>
          </a:xfrm>
          <a:custGeom>
            <a:avLst/>
            <a:gdLst/>
            <a:ahLst/>
            <a:cxnLst/>
            <a:rect l="l" t="t" r="r" b="b"/>
            <a:pathLst>
              <a:path w="328" h="45">
                <a:moveTo>
                  <a:pt x="17" y="0"/>
                </a:moveTo>
                <a:lnTo>
                  <a:pt x="17" y="0"/>
                </a:lnTo>
                <a:lnTo>
                  <a:pt x="311" y="0"/>
                </a:lnTo>
                <a:lnTo>
                  <a:pt x="328" y="22"/>
                </a:lnTo>
                <a:lnTo>
                  <a:pt x="311" y="45"/>
                </a:lnTo>
                <a:lnTo>
                  <a:pt x="17" y="45"/>
                </a:lnTo>
                <a:lnTo>
                  <a:pt x="0" y="22"/>
                </a:lnTo>
                <a:lnTo>
                  <a:pt x="17" y="0"/>
                </a:lnTo>
                <a:close/>
              </a:path>
            </a:pathLst>
          </a:custGeom>
          <a:noFill/>
          <a:ln w="8255">
            <a:solidFill>
              <a:srgbClr val="3A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路线优化与可视化渲染（标题，可编辑）"/>
          <p:cNvSpPr txBox="1"/>
          <p:nvPr/>
        </p:nvSpPr>
        <p:spPr>
          <a:xfrm>
            <a:off x="8174181" y="2055213"/>
            <a:ext cx="2391731" cy="3279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2" b="1">
                <a:solidFill>
                  <a:srgbClr val="0059C4"/>
                </a:solidFill>
                <a:latin typeface="Noto Sans CJK SC"/>
                <a:ea typeface="Noto Sans CJK SC"/>
              </a:rPr>
              <a:t>路线优化与可视化渲染</a:t>
            </a:r>
          </a:p>
        </p:txBody>
      </p:sp>
      <p:sp>
        <p:nvSpPr>
          <p:cNvPr id="16" name="路线优化与可视化渲染（正文，可编辑）"/>
          <p:cNvSpPr txBox="1"/>
          <p:nvPr/>
        </p:nvSpPr>
        <p:spPr>
          <a:xfrm>
            <a:off x="8371061" y="2470629"/>
            <a:ext cx="2377148" cy="7215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实现旅行路线的智能优化，并完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成路线可视化渲染，以地图和网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页形式直观展示规划结果。</a:t>
            </a:r>
          </a:p>
        </p:txBody>
      </p:sp>
      <p:sp>
        <p:nvSpPr>
          <p:cNvPr id="17" name="标签轮廓（可编辑）：高德真实数据接入"/>
          <p:cNvSpPr/>
          <p:nvPr/>
        </p:nvSpPr>
        <p:spPr>
          <a:xfrm>
            <a:off x="2449776" y="3002244"/>
            <a:ext cx="2114390" cy="335202"/>
          </a:xfrm>
          <a:custGeom>
            <a:avLst/>
            <a:gdLst/>
            <a:ahLst/>
            <a:cxnLst/>
            <a:rect l="l" t="t" r="r" b="b"/>
            <a:pathLst>
              <a:path w="290" h="46">
                <a:moveTo>
                  <a:pt x="17" y="0"/>
                </a:moveTo>
                <a:lnTo>
                  <a:pt x="17" y="0"/>
                </a:lnTo>
                <a:lnTo>
                  <a:pt x="273" y="0"/>
                </a:lnTo>
                <a:lnTo>
                  <a:pt x="290" y="23"/>
                </a:lnTo>
                <a:lnTo>
                  <a:pt x="273" y="46"/>
                </a:lnTo>
                <a:lnTo>
                  <a:pt x="17" y="46"/>
                </a:lnTo>
                <a:lnTo>
                  <a:pt x="0" y="23"/>
                </a:lnTo>
                <a:lnTo>
                  <a:pt x="17" y="0"/>
                </a:lnTo>
                <a:close/>
              </a:path>
            </a:pathLst>
          </a:custGeom>
          <a:noFill/>
          <a:ln w="8255">
            <a:solidFill>
              <a:srgbClr val="3A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高德真实数据接入（标题，可编辑）"/>
          <p:cNvSpPr txBox="1"/>
          <p:nvPr/>
        </p:nvSpPr>
        <p:spPr>
          <a:xfrm>
            <a:off x="2450066" y="3060956"/>
            <a:ext cx="2114641" cy="3352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2" b="1">
                <a:solidFill>
                  <a:srgbClr val="0059C4"/>
                </a:solidFill>
                <a:latin typeface="Noto Sans CJK SC"/>
                <a:ea typeface="Noto Sans CJK SC"/>
              </a:rPr>
              <a:t>高德真实数据接入</a:t>
            </a:r>
          </a:p>
        </p:txBody>
      </p:sp>
      <p:sp>
        <p:nvSpPr>
          <p:cNvPr id="19" name="高德真实数据接入（正文，可编辑）"/>
          <p:cNvSpPr txBox="1"/>
          <p:nvPr/>
        </p:nvSpPr>
        <p:spPr>
          <a:xfrm>
            <a:off x="2318813" y="3490947"/>
            <a:ext cx="2267770" cy="9401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接入高德真实地理数据，包含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POI、路线、天气等信息，为旅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行规划提供可靠的真实数据支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撑。</a:t>
            </a:r>
          </a:p>
        </p:txBody>
      </p:sp>
      <p:sp>
        <p:nvSpPr>
          <p:cNvPr id="20" name="标签轮廓（可编辑）：大模型规划能力集成"/>
          <p:cNvSpPr/>
          <p:nvPr/>
        </p:nvSpPr>
        <p:spPr>
          <a:xfrm>
            <a:off x="8851274" y="3803814"/>
            <a:ext cx="2362284" cy="335202"/>
          </a:xfrm>
          <a:custGeom>
            <a:avLst/>
            <a:gdLst/>
            <a:ahLst/>
            <a:cxnLst/>
            <a:rect l="l" t="t" r="r" b="b"/>
            <a:pathLst>
              <a:path w="324" h="46">
                <a:moveTo>
                  <a:pt x="17" y="0"/>
                </a:moveTo>
                <a:lnTo>
                  <a:pt x="17" y="0"/>
                </a:lnTo>
                <a:lnTo>
                  <a:pt x="307" y="0"/>
                </a:lnTo>
                <a:lnTo>
                  <a:pt x="324" y="23"/>
                </a:lnTo>
                <a:lnTo>
                  <a:pt x="307" y="46"/>
                </a:lnTo>
                <a:lnTo>
                  <a:pt x="17" y="46"/>
                </a:lnTo>
                <a:lnTo>
                  <a:pt x="0" y="23"/>
                </a:lnTo>
                <a:lnTo>
                  <a:pt x="17" y="0"/>
                </a:lnTo>
                <a:close/>
              </a:path>
            </a:pathLst>
          </a:custGeom>
          <a:noFill/>
          <a:ln w="8255">
            <a:solidFill>
              <a:srgbClr val="3A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大模型规划能力集成（标题，可编辑）"/>
          <p:cNvSpPr txBox="1"/>
          <p:nvPr/>
        </p:nvSpPr>
        <p:spPr>
          <a:xfrm>
            <a:off x="8852325" y="3862635"/>
            <a:ext cx="2362564" cy="3352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2" b="1">
                <a:solidFill>
                  <a:srgbClr val="0059C4"/>
                </a:solidFill>
                <a:latin typeface="Noto Sans CJK SC"/>
                <a:ea typeface="Noto Sans CJK SC"/>
              </a:rPr>
              <a:t>大模型规划能力集成</a:t>
            </a:r>
          </a:p>
        </p:txBody>
      </p:sp>
      <p:sp>
        <p:nvSpPr>
          <p:cNvPr id="22" name="大模型规划能力集成（正文，可编辑）"/>
          <p:cNvSpPr txBox="1"/>
          <p:nvPr/>
        </p:nvSpPr>
        <p:spPr>
          <a:xfrm>
            <a:off x="8976286" y="4278051"/>
            <a:ext cx="2333397" cy="7215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集成大模型的规划能力，实现旅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行计划的智能生成，提升规划的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合理性与个性化水平。</a:t>
            </a:r>
          </a:p>
        </p:txBody>
      </p:sp>
      <p:sp>
        <p:nvSpPr>
          <p:cNvPr id="23" name="标签轮廓（可编辑）：系统整体架构搭建"/>
          <p:cNvSpPr/>
          <p:nvPr/>
        </p:nvSpPr>
        <p:spPr>
          <a:xfrm>
            <a:off x="2559141" y="5137335"/>
            <a:ext cx="2267501" cy="342489"/>
          </a:xfrm>
          <a:custGeom>
            <a:avLst/>
            <a:gdLst/>
            <a:ahLst/>
            <a:cxnLst/>
            <a:rect l="l" t="t" r="r" b="b"/>
            <a:pathLst>
              <a:path w="311" h="47">
                <a:moveTo>
                  <a:pt x="17" y="0"/>
                </a:moveTo>
                <a:lnTo>
                  <a:pt x="17" y="0"/>
                </a:lnTo>
                <a:lnTo>
                  <a:pt x="294" y="0"/>
                </a:lnTo>
                <a:lnTo>
                  <a:pt x="311" y="23"/>
                </a:lnTo>
                <a:lnTo>
                  <a:pt x="294" y="47"/>
                </a:lnTo>
                <a:lnTo>
                  <a:pt x="17" y="47"/>
                </a:lnTo>
                <a:lnTo>
                  <a:pt x="0" y="23"/>
                </a:lnTo>
                <a:lnTo>
                  <a:pt x="17" y="0"/>
                </a:lnTo>
                <a:close/>
              </a:path>
            </a:pathLst>
          </a:custGeom>
          <a:noFill/>
          <a:ln w="8255">
            <a:solidFill>
              <a:srgbClr val="3A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系统整体架构搭建（标题，可编辑）"/>
          <p:cNvSpPr txBox="1"/>
          <p:nvPr/>
        </p:nvSpPr>
        <p:spPr>
          <a:xfrm>
            <a:off x="2559444" y="5196337"/>
            <a:ext cx="2267770" cy="3425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2" b="1">
                <a:solidFill>
                  <a:srgbClr val="0059C4"/>
                </a:solidFill>
                <a:latin typeface="Noto Sans CJK SC"/>
                <a:ea typeface="Noto Sans CJK SC"/>
              </a:rPr>
              <a:t>系统整体架构搭建</a:t>
            </a:r>
          </a:p>
        </p:txBody>
      </p:sp>
      <p:sp>
        <p:nvSpPr>
          <p:cNvPr id="25" name="系统整体架构搭建（正文，可编辑）"/>
          <p:cNvSpPr txBox="1"/>
          <p:nvPr/>
        </p:nvSpPr>
        <p:spPr>
          <a:xfrm>
            <a:off x="2377148" y="5619041"/>
            <a:ext cx="2318813" cy="7215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完成系统整体架构搭建，构建了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从数据接入、模型推理到业务应</a:t>
            </a:r>
          </a:p>
          <a:p>
            <a:pPr algn="l">
              <a:lnSpc>
                <a:spcPts val="1779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15214B"/>
                </a:solidFill>
                <a:latin typeface="Noto Sans CJK SC"/>
                <a:ea typeface="Noto Sans CJK SC"/>
              </a:rPr>
              <a:t>用的端到端框架。</a:t>
            </a:r>
          </a:p>
        </p:txBody>
      </p:sp>
      <p:cxnSp>
        <p:nvCxnSpPr>
          <p:cNvPr id="26" name="页眉分隔线（可编辑）"/>
          <p:cNvCxnSpPr/>
          <p:nvPr/>
        </p:nvCxnSpPr>
        <p:spPr>
          <a:xfrm>
            <a:off x="320842" y="634055"/>
            <a:ext cx="11506564" cy="0"/>
          </a:xfrm>
          <a:prstGeom prst="line">
            <a:avLst/>
          </a:prstGeom>
          <a:ln w="7291">
            <a:solidFill>
              <a:srgbClr val="429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页眉蓝色短线（可编辑）"/>
          <p:cNvCxnSpPr/>
          <p:nvPr/>
        </p:nvCxnSpPr>
        <p:spPr>
          <a:xfrm>
            <a:off x="320842" y="641343"/>
            <a:ext cx="452095" cy="0"/>
          </a:xfrm>
          <a:prstGeom prst="line">
            <a:avLst/>
          </a:prstGeom>
          <a:ln w="51043">
            <a:solidFill>
              <a:srgbClr val="0057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模块连接线（可编辑）"/>
          <p:cNvCxnSpPr/>
          <p:nvPr/>
        </p:nvCxnSpPr>
        <p:spPr>
          <a:xfrm>
            <a:off x="3653224" y="1078622"/>
            <a:ext cx="2347981" cy="0"/>
          </a:xfrm>
          <a:prstGeom prst="line">
            <a:avLst/>
          </a:prstGeom>
          <a:ln w="10208">
            <a:solidFill>
              <a:srgbClr val="1686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模块连接圆点（可编辑）"/>
          <p:cNvSpPr/>
          <p:nvPr/>
        </p:nvSpPr>
        <p:spPr>
          <a:xfrm>
            <a:off x="5928286" y="1005742"/>
            <a:ext cx="145837" cy="14575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8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模块连接圆点（可编辑）"/>
          <p:cNvSpPr/>
          <p:nvPr/>
        </p:nvSpPr>
        <p:spPr>
          <a:xfrm>
            <a:off x="5953808" y="1031250"/>
            <a:ext cx="94794" cy="94743"/>
          </a:xfrm>
          <a:prstGeom prst="ellipse">
            <a:avLst/>
          </a:prstGeom>
          <a:solidFill>
            <a:srgbClr val="1686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模块连接线（可编辑）"/>
          <p:cNvCxnSpPr/>
          <p:nvPr/>
        </p:nvCxnSpPr>
        <p:spPr>
          <a:xfrm>
            <a:off x="8057511" y="2339445"/>
            <a:ext cx="2391732" cy="0"/>
          </a:xfrm>
          <a:prstGeom prst="line">
            <a:avLst/>
          </a:prstGeom>
          <a:ln w="10208">
            <a:solidFill>
              <a:srgbClr val="1686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模块连接圆点（可编辑）"/>
          <p:cNvSpPr/>
          <p:nvPr/>
        </p:nvSpPr>
        <p:spPr>
          <a:xfrm>
            <a:off x="7984593" y="2266565"/>
            <a:ext cx="145837" cy="14575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8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模块连接圆点（可编辑）"/>
          <p:cNvSpPr/>
          <p:nvPr/>
        </p:nvSpPr>
        <p:spPr>
          <a:xfrm>
            <a:off x="8010114" y="2292073"/>
            <a:ext cx="94794" cy="94743"/>
          </a:xfrm>
          <a:prstGeom prst="ellipse">
            <a:avLst/>
          </a:prstGeom>
          <a:solidFill>
            <a:srgbClr val="1686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模块连接线（可编辑）"/>
          <p:cNvCxnSpPr/>
          <p:nvPr/>
        </p:nvCxnSpPr>
        <p:spPr>
          <a:xfrm>
            <a:off x="2289645" y="3345188"/>
            <a:ext cx="2457359" cy="0"/>
          </a:xfrm>
          <a:prstGeom prst="line">
            <a:avLst/>
          </a:prstGeom>
          <a:ln w="10208">
            <a:solidFill>
              <a:srgbClr val="1686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模块连接圆点（可编辑）"/>
          <p:cNvSpPr/>
          <p:nvPr/>
        </p:nvSpPr>
        <p:spPr>
          <a:xfrm>
            <a:off x="2216727" y="3272308"/>
            <a:ext cx="145837" cy="14575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8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模块连接圆点（可编辑）"/>
          <p:cNvSpPr/>
          <p:nvPr/>
        </p:nvSpPr>
        <p:spPr>
          <a:xfrm>
            <a:off x="2242248" y="3297816"/>
            <a:ext cx="94794" cy="94743"/>
          </a:xfrm>
          <a:prstGeom prst="ellipse">
            <a:avLst/>
          </a:prstGeom>
          <a:solidFill>
            <a:srgbClr val="1686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模块连接线（可编辑）"/>
          <p:cNvCxnSpPr/>
          <p:nvPr/>
        </p:nvCxnSpPr>
        <p:spPr>
          <a:xfrm>
            <a:off x="8648152" y="4146867"/>
            <a:ext cx="2646948" cy="0"/>
          </a:xfrm>
          <a:prstGeom prst="line">
            <a:avLst/>
          </a:prstGeom>
          <a:ln w="10208">
            <a:solidFill>
              <a:srgbClr val="1686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模块连接圆点（可编辑）"/>
          <p:cNvSpPr/>
          <p:nvPr/>
        </p:nvSpPr>
        <p:spPr>
          <a:xfrm>
            <a:off x="8575234" y="4073987"/>
            <a:ext cx="145837" cy="14575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8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模块连接圆点（可编辑）"/>
          <p:cNvSpPr/>
          <p:nvPr/>
        </p:nvSpPr>
        <p:spPr>
          <a:xfrm>
            <a:off x="8600755" y="4099495"/>
            <a:ext cx="94794" cy="94743"/>
          </a:xfrm>
          <a:prstGeom prst="ellipse">
            <a:avLst/>
          </a:prstGeom>
          <a:solidFill>
            <a:srgbClr val="1686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模块连接线（可编辑）"/>
          <p:cNvCxnSpPr/>
          <p:nvPr/>
        </p:nvCxnSpPr>
        <p:spPr>
          <a:xfrm>
            <a:off x="2289645" y="5480569"/>
            <a:ext cx="2814661" cy="0"/>
          </a:xfrm>
          <a:prstGeom prst="line">
            <a:avLst/>
          </a:prstGeom>
          <a:ln w="10208">
            <a:solidFill>
              <a:srgbClr val="1686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模块连接圆点（可编辑）"/>
          <p:cNvSpPr/>
          <p:nvPr/>
        </p:nvSpPr>
        <p:spPr>
          <a:xfrm>
            <a:off x="2216727" y="5407689"/>
            <a:ext cx="145837" cy="14575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8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模块连接圆点（可编辑）"/>
          <p:cNvSpPr/>
          <p:nvPr/>
        </p:nvSpPr>
        <p:spPr>
          <a:xfrm>
            <a:off x="2242248" y="5433197"/>
            <a:ext cx="94794" cy="94743"/>
          </a:xfrm>
          <a:prstGeom prst="ellipse">
            <a:avLst/>
          </a:prstGeom>
          <a:solidFill>
            <a:srgbClr val="1686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